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176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968112" y="3007226"/>
            <a:ext cx="1185427" cy="1185427"/>
          </a:xfrm>
          <a:custGeom>
            <a:avLst/>
            <a:gdLst/>
            <a:ahLst/>
            <a:cxnLst/>
            <a:rect l="0" t="0" r="0" b="0"/>
            <a:pathLst>
              <a:path w="1185427" h="1185427">
                <a:moveTo>
                  <a:pt x="1185427" y="592713"/>
                </a:moveTo>
                <a:cubicBezTo>
                  <a:pt x="1185427" y="265403"/>
                  <a:pt x="920023" y="0"/>
                  <a:pt x="592713" y="0"/>
                </a:cubicBezTo>
                <a:cubicBezTo>
                  <a:pt x="265403" y="0"/>
                  <a:pt x="0" y="265403"/>
                  <a:pt x="0" y="592713"/>
                </a:cubicBezTo>
                <a:cubicBezTo>
                  <a:pt x="0" y="920023"/>
                  <a:pt x="265321" y="1185427"/>
                  <a:pt x="592713" y="1185427"/>
                </a:cubicBezTo>
                <a:cubicBezTo>
                  <a:pt x="920105" y="1185427"/>
                  <a:pt x="1185427" y="920105"/>
                  <a:pt x="1185427" y="592713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3" name="Rounded Rectangle 2"/>
          <p:cNvSpPr/>
          <p:nvPr/>
        </p:nvSpPr>
        <p:spPr>
          <a:xfrm>
            <a:off x="3968112" y="3007226"/>
            <a:ext cx="1185427" cy="1185427"/>
          </a:xfrm>
          <a:custGeom>
            <a:avLst/>
            <a:gdLst/>
            <a:ahLst/>
            <a:cxnLst/>
            <a:rect l="0" t="0" r="0" b="0"/>
            <a:pathLst>
              <a:path w="1185427" h="1185427">
                <a:moveTo>
                  <a:pt x="1185427" y="592713"/>
                </a:moveTo>
                <a:cubicBezTo>
                  <a:pt x="1185427" y="265403"/>
                  <a:pt x="920023" y="0"/>
                  <a:pt x="592713" y="0"/>
                </a:cubicBezTo>
                <a:cubicBezTo>
                  <a:pt x="265403" y="0"/>
                  <a:pt x="0" y="265403"/>
                  <a:pt x="0" y="592713"/>
                </a:cubicBezTo>
                <a:cubicBezTo>
                  <a:pt x="0" y="920023"/>
                  <a:pt x="265321" y="1185427"/>
                  <a:pt x="592713" y="1185427"/>
                </a:cubicBezTo>
                <a:cubicBezTo>
                  <a:pt x="920105" y="1185427"/>
                  <a:pt x="1185427" y="920105"/>
                  <a:pt x="1185427" y="592713"/>
                </a:cubicBezTo>
                <a:close/>
              </a:path>
            </a:pathLst>
          </a:custGeom>
          <a:solidFill>
            <a:schemeClr val="bg1"/>
          </a:solidFill>
          <a:ln w="12348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4" name="Rounded Rectangle 3"/>
          <p:cNvSpPr/>
          <p:nvPr/>
        </p:nvSpPr>
        <p:spPr>
          <a:xfrm>
            <a:off x="4313861" y="1912435"/>
            <a:ext cx="493927" cy="864373"/>
          </a:xfrm>
          <a:custGeom>
            <a:avLst/>
            <a:gdLst/>
            <a:ahLst/>
            <a:cxnLst/>
            <a:rect l="0" t="0" r="0" b="0"/>
            <a:pathLst>
              <a:path w="493927" h="864373">
                <a:moveTo>
                  <a:pt x="158550" y="768634"/>
                </a:moveTo>
                <a:lnTo>
                  <a:pt x="246963" y="864373"/>
                </a:lnTo>
                <a:lnTo>
                  <a:pt x="335377" y="768634"/>
                </a:lnTo>
                <a:lnTo>
                  <a:pt x="286148" y="768634"/>
                </a:lnTo>
                <a:lnTo>
                  <a:pt x="286148" y="490388"/>
                </a:lnTo>
                <a:cubicBezTo>
                  <a:pt x="403868" y="471618"/>
                  <a:pt x="493927" y="369705"/>
                  <a:pt x="493927" y="246717"/>
                </a:cubicBezTo>
                <a:cubicBezTo>
                  <a:pt x="493927" y="110475"/>
                  <a:pt x="383370" y="0"/>
                  <a:pt x="246963" y="0"/>
                </a:cubicBezTo>
                <a:cubicBezTo>
                  <a:pt x="110557" y="0"/>
                  <a:pt x="0" y="110475"/>
                  <a:pt x="0" y="246717"/>
                </a:cubicBezTo>
                <a:cubicBezTo>
                  <a:pt x="0" y="369458"/>
                  <a:pt x="89730" y="471289"/>
                  <a:pt x="207285" y="490305"/>
                </a:cubicBezTo>
                <a:lnTo>
                  <a:pt x="207285" y="768634"/>
                </a:lnTo>
                <a:lnTo>
                  <a:pt x="158550" y="768634"/>
                </a:lnTo>
              </a:path>
            </a:pathLst>
          </a:cu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6" name="Rounded Rectangle 5"/>
          <p:cNvSpPr/>
          <p:nvPr/>
        </p:nvSpPr>
        <p:spPr>
          <a:xfrm>
            <a:off x="5141684" y="2310212"/>
            <a:ext cx="707716" cy="707634"/>
          </a:xfrm>
          <a:custGeom>
            <a:avLst/>
            <a:gdLst/>
            <a:ahLst/>
            <a:cxnLst/>
            <a:rect l="0" t="0" r="0" b="0"/>
            <a:pathLst>
              <a:path w="707716" h="707634">
                <a:moveTo>
                  <a:pt x="5103" y="577401"/>
                </a:moveTo>
                <a:lnTo>
                  <a:pt x="0" y="707634"/>
                </a:lnTo>
                <a:lnTo>
                  <a:pt x="130232" y="702521"/>
                </a:lnTo>
                <a:lnTo>
                  <a:pt x="95410" y="667708"/>
                </a:lnTo>
                <a:lnTo>
                  <a:pt x="292158" y="470960"/>
                </a:lnTo>
                <a:cubicBezTo>
                  <a:pt x="388721" y="540933"/>
                  <a:pt x="524386" y="532528"/>
                  <a:pt x="611318" y="445597"/>
                </a:cubicBezTo>
                <a:cubicBezTo>
                  <a:pt x="707716" y="349207"/>
                  <a:pt x="707634" y="192961"/>
                  <a:pt x="611153" y="96472"/>
                </a:cubicBezTo>
                <a:cubicBezTo>
                  <a:pt x="514672" y="0"/>
                  <a:pt x="358427" y="0"/>
                  <a:pt x="262028" y="96307"/>
                </a:cubicBezTo>
                <a:cubicBezTo>
                  <a:pt x="175179" y="183164"/>
                  <a:pt x="166700" y="318575"/>
                  <a:pt x="236344" y="415064"/>
                </a:cubicBezTo>
                <a:lnTo>
                  <a:pt x="39514" y="611886"/>
                </a:lnTo>
                <a:lnTo>
                  <a:pt x="5021" y="577401"/>
                </a:lnTo>
              </a:path>
            </a:pathLst>
          </a:cu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7" name="Rounded Rectangle 6"/>
          <p:cNvSpPr/>
          <p:nvPr/>
        </p:nvSpPr>
        <p:spPr>
          <a:xfrm rot="10800000">
            <a:off x="4758962" y="2209575"/>
            <a:ext cx="707716" cy="707634"/>
          </a:xfrm>
          <a:custGeom>
            <a:avLst/>
            <a:gdLst/>
            <a:ahLst/>
            <a:cxnLst/>
            <a:rect l="0" t="0" r="0" b="0"/>
            <a:pathLst>
              <a:path w="707716" h="707634">
                <a:moveTo>
                  <a:pt x="5103" y="577401"/>
                </a:moveTo>
                <a:lnTo>
                  <a:pt x="0" y="707634"/>
                </a:lnTo>
                <a:lnTo>
                  <a:pt x="130232" y="702530"/>
                </a:lnTo>
                <a:lnTo>
                  <a:pt x="95410" y="667708"/>
                </a:lnTo>
                <a:lnTo>
                  <a:pt x="292158" y="470960"/>
                </a:lnTo>
                <a:cubicBezTo>
                  <a:pt x="388721" y="540933"/>
                  <a:pt x="524386" y="532536"/>
                  <a:pt x="611318" y="445605"/>
                </a:cubicBezTo>
                <a:cubicBezTo>
                  <a:pt x="707716" y="349207"/>
                  <a:pt x="707634" y="192961"/>
                  <a:pt x="611153" y="96480"/>
                </a:cubicBezTo>
                <a:cubicBezTo>
                  <a:pt x="514672" y="0"/>
                  <a:pt x="358427" y="0"/>
                  <a:pt x="262028" y="96315"/>
                </a:cubicBezTo>
                <a:cubicBezTo>
                  <a:pt x="175179" y="183164"/>
                  <a:pt x="166700" y="318583"/>
                  <a:pt x="236344" y="415064"/>
                </a:cubicBezTo>
                <a:lnTo>
                  <a:pt x="39514" y="611894"/>
                </a:lnTo>
                <a:lnTo>
                  <a:pt x="5021" y="577401"/>
                </a:lnTo>
                <a:lnTo>
                  <a:pt x="5103" y="577401"/>
                </a:lnTo>
                <a:close/>
              </a:path>
            </a:pathLst>
          </a:custGeom>
          <a:solidFill>
            <a:schemeClr val="bg1"/>
          </a:solidFill>
          <a:ln w="12348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8" name="Rounded Rectangle 7"/>
          <p:cNvSpPr/>
          <p:nvPr/>
        </p:nvSpPr>
        <p:spPr>
          <a:xfrm>
            <a:off x="5381898" y="3351906"/>
            <a:ext cx="864373" cy="493927"/>
          </a:xfrm>
          <a:custGeom>
            <a:avLst/>
            <a:gdLst/>
            <a:ahLst/>
            <a:cxnLst/>
            <a:rect l="0" t="0" r="0" b="0"/>
            <a:pathLst>
              <a:path w="864373" h="493927">
                <a:moveTo>
                  <a:pt x="95739" y="158550"/>
                </a:moveTo>
                <a:lnTo>
                  <a:pt x="0" y="246963"/>
                </a:lnTo>
                <a:lnTo>
                  <a:pt x="95739" y="335377"/>
                </a:lnTo>
                <a:lnTo>
                  <a:pt x="95739" y="286148"/>
                </a:lnTo>
                <a:lnTo>
                  <a:pt x="373985" y="286148"/>
                </a:lnTo>
                <a:cubicBezTo>
                  <a:pt x="392755" y="403868"/>
                  <a:pt x="494668" y="493927"/>
                  <a:pt x="617656" y="493927"/>
                </a:cubicBezTo>
                <a:cubicBezTo>
                  <a:pt x="753898" y="493927"/>
                  <a:pt x="864373" y="383370"/>
                  <a:pt x="864373" y="246963"/>
                </a:cubicBezTo>
                <a:cubicBezTo>
                  <a:pt x="864373" y="110557"/>
                  <a:pt x="753898" y="0"/>
                  <a:pt x="617656" y="0"/>
                </a:cubicBezTo>
                <a:cubicBezTo>
                  <a:pt x="494915" y="0"/>
                  <a:pt x="393084" y="89730"/>
                  <a:pt x="374068" y="207285"/>
                </a:cubicBezTo>
                <a:lnTo>
                  <a:pt x="95739" y="207285"/>
                </a:lnTo>
                <a:lnTo>
                  <a:pt x="95739" y="158550"/>
                </a:lnTo>
              </a:path>
            </a:pathLst>
          </a:cu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9" name="Rounded Rectangle 8"/>
          <p:cNvSpPr/>
          <p:nvPr/>
        </p:nvSpPr>
        <p:spPr>
          <a:xfrm rot="10800000">
            <a:off x="5381898" y="3351906"/>
            <a:ext cx="864373" cy="493927"/>
          </a:xfrm>
          <a:custGeom>
            <a:avLst/>
            <a:gdLst/>
            <a:ahLst/>
            <a:cxnLst/>
            <a:rect l="0" t="0" r="0" b="0"/>
            <a:pathLst>
              <a:path w="864373" h="493927">
                <a:moveTo>
                  <a:pt x="95739" y="158550"/>
                </a:moveTo>
                <a:lnTo>
                  <a:pt x="0" y="246963"/>
                </a:lnTo>
                <a:lnTo>
                  <a:pt x="95739" y="335377"/>
                </a:lnTo>
                <a:lnTo>
                  <a:pt x="95739" y="286148"/>
                </a:lnTo>
                <a:lnTo>
                  <a:pt x="373985" y="286148"/>
                </a:lnTo>
                <a:cubicBezTo>
                  <a:pt x="392755" y="403868"/>
                  <a:pt x="494668" y="493927"/>
                  <a:pt x="617656" y="493927"/>
                </a:cubicBezTo>
                <a:cubicBezTo>
                  <a:pt x="753898" y="493927"/>
                  <a:pt x="864373" y="383370"/>
                  <a:pt x="864373" y="246963"/>
                </a:cubicBezTo>
                <a:cubicBezTo>
                  <a:pt x="864373" y="110557"/>
                  <a:pt x="753898" y="0"/>
                  <a:pt x="617656" y="0"/>
                </a:cubicBezTo>
                <a:cubicBezTo>
                  <a:pt x="494915" y="0"/>
                  <a:pt x="393084" y="89730"/>
                  <a:pt x="374068" y="207285"/>
                </a:cubicBezTo>
                <a:lnTo>
                  <a:pt x="95739" y="207285"/>
                </a:lnTo>
                <a:lnTo>
                  <a:pt x="95739" y="158550"/>
                </a:lnTo>
                <a:close/>
              </a:path>
            </a:pathLst>
          </a:custGeom>
          <a:solidFill>
            <a:schemeClr val="bg1"/>
          </a:solidFill>
          <a:ln w="12348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0" name="Rounded Rectangle 9"/>
          <p:cNvSpPr/>
          <p:nvPr/>
        </p:nvSpPr>
        <p:spPr>
          <a:xfrm rot="1254720">
            <a:off x="5140943" y="4179811"/>
            <a:ext cx="707634" cy="707716"/>
          </a:xfrm>
          <a:custGeom>
            <a:avLst/>
            <a:gdLst/>
            <a:ahLst/>
            <a:cxnLst/>
            <a:rect l="0" t="0" r="0" b="0"/>
            <a:pathLst>
              <a:path w="707634" h="707716">
                <a:moveTo>
                  <a:pt x="130232" y="5103"/>
                </a:moveTo>
                <a:lnTo>
                  <a:pt x="0" y="0"/>
                </a:lnTo>
                <a:lnTo>
                  <a:pt x="5103" y="130232"/>
                </a:lnTo>
                <a:lnTo>
                  <a:pt x="39925" y="95410"/>
                </a:lnTo>
                <a:lnTo>
                  <a:pt x="236673" y="292158"/>
                </a:lnTo>
                <a:cubicBezTo>
                  <a:pt x="166700" y="388721"/>
                  <a:pt x="175097" y="524386"/>
                  <a:pt x="262028" y="611318"/>
                </a:cubicBezTo>
                <a:cubicBezTo>
                  <a:pt x="358427" y="707716"/>
                  <a:pt x="514672" y="707634"/>
                  <a:pt x="611153" y="611153"/>
                </a:cubicBezTo>
                <a:cubicBezTo>
                  <a:pt x="707634" y="514672"/>
                  <a:pt x="707634" y="358427"/>
                  <a:pt x="611318" y="262028"/>
                </a:cubicBezTo>
                <a:cubicBezTo>
                  <a:pt x="524469" y="175179"/>
                  <a:pt x="389050" y="166700"/>
                  <a:pt x="292570" y="236344"/>
                </a:cubicBezTo>
                <a:lnTo>
                  <a:pt x="95739" y="39514"/>
                </a:lnTo>
                <a:lnTo>
                  <a:pt x="130232" y="5021"/>
                </a:lnTo>
              </a:path>
            </a:pathLst>
          </a:cu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1" name="Rounded Rectangle 10"/>
          <p:cNvSpPr/>
          <p:nvPr/>
        </p:nvSpPr>
        <p:spPr>
          <a:xfrm rot="9592677">
            <a:off x="5140943" y="4179811"/>
            <a:ext cx="707634" cy="707716"/>
          </a:xfrm>
          <a:custGeom>
            <a:avLst/>
            <a:gdLst/>
            <a:ahLst/>
            <a:cxnLst/>
            <a:rect l="0" t="0" r="0" b="0"/>
            <a:pathLst>
              <a:path w="707634" h="707716">
                <a:moveTo>
                  <a:pt x="130232" y="5103"/>
                </a:moveTo>
                <a:lnTo>
                  <a:pt x="0" y="0"/>
                </a:lnTo>
                <a:lnTo>
                  <a:pt x="5103" y="130232"/>
                </a:lnTo>
                <a:lnTo>
                  <a:pt x="39925" y="95410"/>
                </a:lnTo>
                <a:lnTo>
                  <a:pt x="236673" y="292158"/>
                </a:lnTo>
                <a:cubicBezTo>
                  <a:pt x="166700" y="388721"/>
                  <a:pt x="175097" y="524386"/>
                  <a:pt x="262028" y="611318"/>
                </a:cubicBezTo>
                <a:cubicBezTo>
                  <a:pt x="358427" y="707716"/>
                  <a:pt x="514672" y="707634"/>
                  <a:pt x="611153" y="611153"/>
                </a:cubicBezTo>
                <a:cubicBezTo>
                  <a:pt x="707634" y="514672"/>
                  <a:pt x="707634" y="358427"/>
                  <a:pt x="611318" y="262028"/>
                </a:cubicBezTo>
                <a:cubicBezTo>
                  <a:pt x="524469" y="175179"/>
                  <a:pt x="389050" y="166700"/>
                  <a:pt x="292570" y="236344"/>
                </a:cubicBezTo>
                <a:lnTo>
                  <a:pt x="95739" y="39514"/>
                </a:lnTo>
                <a:lnTo>
                  <a:pt x="130232" y="5021"/>
                </a:lnTo>
                <a:lnTo>
                  <a:pt x="130232" y="5103"/>
                </a:lnTo>
                <a:close/>
              </a:path>
            </a:pathLst>
          </a:custGeom>
          <a:solidFill>
            <a:schemeClr val="bg1"/>
          </a:solidFill>
          <a:ln w="12348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2" name="Rounded Rectangle 11"/>
          <p:cNvSpPr/>
          <p:nvPr/>
        </p:nvSpPr>
        <p:spPr>
          <a:xfrm>
            <a:off x="4312873" y="4420025"/>
            <a:ext cx="493927" cy="864373"/>
          </a:xfrm>
          <a:custGeom>
            <a:avLst/>
            <a:gdLst/>
            <a:ahLst/>
            <a:cxnLst/>
            <a:rect l="0" t="0" r="0" b="0"/>
            <a:pathLst>
              <a:path w="493927" h="864373">
                <a:moveTo>
                  <a:pt x="335377" y="95739"/>
                </a:moveTo>
                <a:lnTo>
                  <a:pt x="246963" y="0"/>
                </a:lnTo>
                <a:lnTo>
                  <a:pt x="158550" y="95739"/>
                </a:lnTo>
                <a:lnTo>
                  <a:pt x="207779" y="95739"/>
                </a:lnTo>
                <a:lnTo>
                  <a:pt x="207779" y="373985"/>
                </a:lnTo>
                <a:cubicBezTo>
                  <a:pt x="90059" y="392755"/>
                  <a:pt x="0" y="494668"/>
                  <a:pt x="0" y="617656"/>
                </a:cubicBezTo>
                <a:cubicBezTo>
                  <a:pt x="0" y="753898"/>
                  <a:pt x="110557" y="864373"/>
                  <a:pt x="246963" y="864373"/>
                </a:cubicBezTo>
                <a:cubicBezTo>
                  <a:pt x="383370" y="864373"/>
                  <a:pt x="493927" y="753898"/>
                  <a:pt x="493927" y="617656"/>
                </a:cubicBezTo>
                <a:cubicBezTo>
                  <a:pt x="493927" y="494915"/>
                  <a:pt x="404197" y="393084"/>
                  <a:pt x="286642" y="374068"/>
                </a:cubicBezTo>
                <a:lnTo>
                  <a:pt x="286642" y="95739"/>
                </a:lnTo>
                <a:lnTo>
                  <a:pt x="335377" y="95739"/>
                </a:lnTo>
              </a:path>
            </a:pathLst>
          </a:cu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3" name="Rounded Rectangle 12"/>
          <p:cNvSpPr/>
          <p:nvPr/>
        </p:nvSpPr>
        <p:spPr>
          <a:xfrm rot="10800000">
            <a:off x="4312873" y="4420025"/>
            <a:ext cx="493927" cy="864373"/>
          </a:xfrm>
          <a:custGeom>
            <a:avLst/>
            <a:gdLst/>
            <a:ahLst/>
            <a:cxnLst/>
            <a:rect l="0" t="0" r="0" b="0"/>
            <a:pathLst>
              <a:path w="493927" h="864373">
                <a:moveTo>
                  <a:pt x="335377" y="95739"/>
                </a:moveTo>
                <a:lnTo>
                  <a:pt x="246963" y="0"/>
                </a:lnTo>
                <a:lnTo>
                  <a:pt x="158550" y="95739"/>
                </a:lnTo>
                <a:lnTo>
                  <a:pt x="207779" y="95739"/>
                </a:lnTo>
                <a:lnTo>
                  <a:pt x="207779" y="373985"/>
                </a:lnTo>
                <a:cubicBezTo>
                  <a:pt x="90059" y="392755"/>
                  <a:pt x="0" y="494668"/>
                  <a:pt x="0" y="617656"/>
                </a:cubicBezTo>
                <a:cubicBezTo>
                  <a:pt x="0" y="753898"/>
                  <a:pt x="110557" y="864373"/>
                  <a:pt x="246963" y="864373"/>
                </a:cubicBezTo>
                <a:cubicBezTo>
                  <a:pt x="383370" y="864373"/>
                  <a:pt x="493927" y="753898"/>
                  <a:pt x="493927" y="617656"/>
                </a:cubicBezTo>
                <a:cubicBezTo>
                  <a:pt x="493927" y="494915"/>
                  <a:pt x="404197" y="393084"/>
                  <a:pt x="286642" y="374068"/>
                </a:cubicBezTo>
                <a:lnTo>
                  <a:pt x="286642" y="95739"/>
                </a:lnTo>
                <a:lnTo>
                  <a:pt x="335377" y="95739"/>
                </a:lnTo>
                <a:close/>
              </a:path>
            </a:pathLst>
          </a:custGeom>
          <a:solidFill>
            <a:schemeClr val="bg1"/>
          </a:solidFill>
          <a:ln w="12348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4" name="Rounded Rectangle 13"/>
          <p:cNvSpPr/>
          <p:nvPr/>
        </p:nvSpPr>
        <p:spPr>
          <a:xfrm>
            <a:off x="3271262" y="4179070"/>
            <a:ext cx="707716" cy="707634"/>
          </a:xfrm>
          <a:custGeom>
            <a:avLst/>
            <a:gdLst/>
            <a:ahLst/>
            <a:cxnLst/>
            <a:rect l="0" t="0" r="0" b="0"/>
            <a:pathLst>
              <a:path w="707716" h="707634">
                <a:moveTo>
                  <a:pt x="702612" y="130232"/>
                </a:moveTo>
                <a:lnTo>
                  <a:pt x="707716" y="0"/>
                </a:lnTo>
                <a:lnTo>
                  <a:pt x="577484" y="5103"/>
                </a:lnTo>
                <a:lnTo>
                  <a:pt x="612306" y="39925"/>
                </a:lnTo>
                <a:lnTo>
                  <a:pt x="415558" y="236673"/>
                </a:lnTo>
                <a:cubicBezTo>
                  <a:pt x="318995" y="166700"/>
                  <a:pt x="183329" y="175097"/>
                  <a:pt x="96398" y="262028"/>
                </a:cubicBezTo>
                <a:cubicBezTo>
                  <a:pt x="0" y="358427"/>
                  <a:pt x="82" y="514672"/>
                  <a:pt x="96562" y="611153"/>
                </a:cubicBezTo>
                <a:cubicBezTo>
                  <a:pt x="193043" y="707634"/>
                  <a:pt x="349289" y="707634"/>
                  <a:pt x="445687" y="611318"/>
                </a:cubicBezTo>
                <a:cubicBezTo>
                  <a:pt x="532536" y="524469"/>
                  <a:pt x="541015" y="389050"/>
                  <a:pt x="471371" y="292570"/>
                </a:cubicBezTo>
                <a:lnTo>
                  <a:pt x="668202" y="95739"/>
                </a:lnTo>
                <a:lnTo>
                  <a:pt x="702694" y="130232"/>
                </a:lnTo>
              </a:path>
            </a:pathLst>
          </a:cu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5" name="Rounded Rectangle 14"/>
          <p:cNvSpPr/>
          <p:nvPr/>
        </p:nvSpPr>
        <p:spPr>
          <a:xfrm rot="11063257">
            <a:off x="3271264" y="4179070"/>
            <a:ext cx="707716" cy="707634"/>
          </a:xfrm>
          <a:custGeom>
            <a:avLst/>
            <a:gdLst/>
            <a:ahLst/>
            <a:cxnLst/>
            <a:rect l="0" t="0" r="0" b="0"/>
            <a:pathLst>
              <a:path w="707716" h="707634">
                <a:moveTo>
                  <a:pt x="702612" y="130232"/>
                </a:moveTo>
                <a:lnTo>
                  <a:pt x="707716" y="0"/>
                </a:lnTo>
                <a:lnTo>
                  <a:pt x="577484" y="5103"/>
                </a:lnTo>
                <a:lnTo>
                  <a:pt x="612306" y="39925"/>
                </a:lnTo>
                <a:lnTo>
                  <a:pt x="415557" y="236673"/>
                </a:lnTo>
                <a:cubicBezTo>
                  <a:pt x="318994" y="166700"/>
                  <a:pt x="183329" y="175097"/>
                  <a:pt x="96398" y="262028"/>
                </a:cubicBezTo>
                <a:cubicBezTo>
                  <a:pt x="0" y="358427"/>
                  <a:pt x="82" y="514672"/>
                  <a:pt x="96562" y="611153"/>
                </a:cubicBezTo>
                <a:cubicBezTo>
                  <a:pt x="193043" y="707634"/>
                  <a:pt x="349288" y="707634"/>
                  <a:pt x="445686" y="611318"/>
                </a:cubicBezTo>
                <a:cubicBezTo>
                  <a:pt x="532535" y="524469"/>
                  <a:pt x="541014" y="389050"/>
                  <a:pt x="471371" y="292570"/>
                </a:cubicBezTo>
                <a:lnTo>
                  <a:pt x="668201" y="95739"/>
                </a:lnTo>
                <a:lnTo>
                  <a:pt x="702694" y="130232"/>
                </a:lnTo>
                <a:lnTo>
                  <a:pt x="702612" y="130232"/>
                </a:lnTo>
                <a:close/>
              </a:path>
            </a:pathLst>
          </a:custGeom>
          <a:solidFill>
            <a:schemeClr val="bg1"/>
          </a:solidFill>
          <a:ln w="12348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6" name="Rounded Rectangle 15"/>
          <p:cNvSpPr/>
          <p:nvPr/>
        </p:nvSpPr>
        <p:spPr>
          <a:xfrm>
            <a:off x="2874391" y="3351000"/>
            <a:ext cx="864373" cy="493927"/>
          </a:xfrm>
          <a:custGeom>
            <a:avLst/>
            <a:gdLst/>
            <a:ahLst/>
            <a:cxnLst/>
            <a:rect l="0" t="0" r="0" b="0"/>
            <a:pathLst>
              <a:path w="864373" h="493927">
                <a:moveTo>
                  <a:pt x="768634" y="335377"/>
                </a:moveTo>
                <a:lnTo>
                  <a:pt x="864373" y="246963"/>
                </a:lnTo>
                <a:lnTo>
                  <a:pt x="768634" y="158550"/>
                </a:lnTo>
                <a:lnTo>
                  <a:pt x="768634" y="207779"/>
                </a:lnTo>
                <a:lnTo>
                  <a:pt x="490388" y="207779"/>
                </a:lnTo>
                <a:cubicBezTo>
                  <a:pt x="471618" y="90059"/>
                  <a:pt x="369705" y="0"/>
                  <a:pt x="246717" y="0"/>
                </a:cubicBezTo>
                <a:cubicBezTo>
                  <a:pt x="110475" y="0"/>
                  <a:pt x="0" y="110557"/>
                  <a:pt x="0" y="246963"/>
                </a:cubicBezTo>
                <a:cubicBezTo>
                  <a:pt x="0" y="383370"/>
                  <a:pt x="110475" y="493927"/>
                  <a:pt x="246717" y="493927"/>
                </a:cubicBezTo>
                <a:cubicBezTo>
                  <a:pt x="369458" y="493927"/>
                  <a:pt x="471289" y="404197"/>
                  <a:pt x="490305" y="286642"/>
                </a:cubicBezTo>
                <a:lnTo>
                  <a:pt x="768634" y="286642"/>
                </a:lnTo>
                <a:lnTo>
                  <a:pt x="768634" y="335377"/>
                </a:lnTo>
              </a:path>
            </a:pathLst>
          </a:cu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7" name="Rounded Rectangle 16"/>
          <p:cNvSpPr/>
          <p:nvPr/>
        </p:nvSpPr>
        <p:spPr>
          <a:xfrm rot="10800000">
            <a:off x="2874391" y="3351000"/>
            <a:ext cx="864373" cy="493927"/>
          </a:xfrm>
          <a:custGeom>
            <a:avLst/>
            <a:gdLst/>
            <a:ahLst/>
            <a:cxnLst/>
            <a:rect l="0" t="0" r="0" b="0"/>
            <a:pathLst>
              <a:path w="864373" h="493927">
                <a:moveTo>
                  <a:pt x="768634" y="335377"/>
                </a:moveTo>
                <a:lnTo>
                  <a:pt x="864373" y="246963"/>
                </a:lnTo>
                <a:lnTo>
                  <a:pt x="768634" y="158550"/>
                </a:lnTo>
                <a:lnTo>
                  <a:pt x="768634" y="207779"/>
                </a:lnTo>
                <a:lnTo>
                  <a:pt x="490388" y="207779"/>
                </a:lnTo>
                <a:cubicBezTo>
                  <a:pt x="471618" y="90059"/>
                  <a:pt x="369705" y="0"/>
                  <a:pt x="246717" y="0"/>
                </a:cubicBezTo>
                <a:cubicBezTo>
                  <a:pt x="110475" y="0"/>
                  <a:pt x="0" y="110557"/>
                  <a:pt x="0" y="246963"/>
                </a:cubicBezTo>
                <a:cubicBezTo>
                  <a:pt x="0" y="383370"/>
                  <a:pt x="110475" y="493927"/>
                  <a:pt x="246717" y="493927"/>
                </a:cubicBezTo>
                <a:cubicBezTo>
                  <a:pt x="369458" y="493927"/>
                  <a:pt x="471289" y="404197"/>
                  <a:pt x="490305" y="286642"/>
                </a:cubicBezTo>
                <a:lnTo>
                  <a:pt x="768634" y="286642"/>
                </a:lnTo>
                <a:lnTo>
                  <a:pt x="768634" y="335377"/>
                </a:lnTo>
                <a:close/>
              </a:path>
            </a:pathLst>
          </a:custGeom>
          <a:solidFill>
            <a:schemeClr val="bg1"/>
          </a:solidFill>
          <a:ln w="12348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8" name="Rounded Rectangle 17"/>
          <p:cNvSpPr/>
          <p:nvPr/>
        </p:nvSpPr>
        <p:spPr>
          <a:xfrm>
            <a:off x="3272085" y="2309381"/>
            <a:ext cx="707634" cy="707716"/>
          </a:xfrm>
          <a:custGeom>
            <a:avLst/>
            <a:gdLst/>
            <a:ahLst/>
            <a:cxnLst/>
            <a:rect l="0" t="0" r="0" b="0"/>
            <a:pathLst>
              <a:path w="707634" h="707716">
                <a:moveTo>
                  <a:pt x="577401" y="702612"/>
                </a:moveTo>
                <a:lnTo>
                  <a:pt x="707634" y="707716"/>
                </a:lnTo>
                <a:lnTo>
                  <a:pt x="702521" y="577484"/>
                </a:lnTo>
                <a:lnTo>
                  <a:pt x="667708" y="612306"/>
                </a:lnTo>
                <a:lnTo>
                  <a:pt x="470960" y="415558"/>
                </a:lnTo>
                <a:cubicBezTo>
                  <a:pt x="540933" y="318995"/>
                  <a:pt x="532528" y="183329"/>
                  <a:pt x="445597" y="96398"/>
                </a:cubicBezTo>
                <a:cubicBezTo>
                  <a:pt x="349207" y="0"/>
                  <a:pt x="192961" y="82"/>
                  <a:pt x="96472" y="96562"/>
                </a:cubicBezTo>
                <a:cubicBezTo>
                  <a:pt x="0" y="193043"/>
                  <a:pt x="0" y="349289"/>
                  <a:pt x="96307" y="445687"/>
                </a:cubicBezTo>
                <a:cubicBezTo>
                  <a:pt x="183164" y="532536"/>
                  <a:pt x="318575" y="541015"/>
                  <a:pt x="415064" y="471371"/>
                </a:cubicBezTo>
                <a:lnTo>
                  <a:pt x="611886" y="668202"/>
                </a:lnTo>
                <a:lnTo>
                  <a:pt x="577401" y="702694"/>
                </a:lnTo>
              </a:path>
            </a:pathLst>
          </a:cu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22" name="TextBox 21"/>
          <p:cNvSpPr txBox="1"/>
          <p:nvPr/>
        </p:nvSpPr>
        <p:spPr>
          <a:xfrm>
            <a:off x="5539123" y="1762795"/>
            <a:ext cx="1476366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00" b="0" dirty="0">
                <a:latin typeface="Roboto"/>
              </a:rPr>
              <a:t>Holding </a:t>
            </a:r>
            <a:r>
              <a:rPr lang="en-US" sz="1400" b="0" dirty="0">
                <a:latin typeface="Roboto"/>
              </a:rPr>
              <a:t>regulators</a:t>
            </a:r>
            <a:r>
              <a:rPr sz="1400" b="0" dirty="0">
                <a:latin typeface="Roboto"/>
              </a:rPr>
              <a:t>
responsible for
compliance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850425" y="2497753"/>
            <a:ext cx="292321" cy="284008"/>
          </a:xfrm>
          <a:custGeom>
            <a:avLst/>
            <a:gdLst/>
            <a:ahLst/>
            <a:cxnLst/>
            <a:rect l="0" t="0" r="0" b="0"/>
            <a:pathLst>
              <a:path w="292321" h="284008">
                <a:moveTo>
                  <a:pt x="119446" y="135830"/>
                </a:moveTo>
                <a:lnTo>
                  <a:pt x="181187" y="74089"/>
                </a:lnTo>
                <a:moveTo>
                  <a:pt x="184805" y="33426"/>
                </a:moveTo>
                <a:cubicBezTo>
                  <a:pt x="182490" y="35741"/>
                  <a:pt x="181188" y="38882"/>
                  <a:pt x="181187" y="42156"/>
                </a:cubicBezTo>
                <a:lnTo>
                  <a:pt x="181187" y="74089"/>
                </a:lnTo>
                <a:lnTo>
                  <a:pt x="213120" y="74089"/>
                </a:lnTo>
                <a:cubicBezTo>
                  <a:pt x="216395" y="74088"/>
                  <a:pt x="219535" y="72787"/>
                  <a:pt x="221850" y="70471"/>
                </a:cubicBezTo>
                <a:lnTo>
                  <a:pt x="255277" y="37044"/>
                </a:lnTo>
                <a:lnTo>
                  <a:pt x="218232" y="37044"/>
                </a:lnTo>
                <a:lnTo>
                  <a:pt x="218232" y="0"/>
                </a:lnTo>
                <a:close/>
                <a:moveTo>
                  <a:pt x="119446" y="197571"/>
                </a:moveTo>
                <a:cubicBezTo>
                  <a:pt x="87774" y="197562"/>
                  <a:pt x="61244" y="173589"/>
                  <a:pt x="58039" y="142079"/>
                </a:cubicBezTo>
                <a:cubicBezTo>
                  <a:pt x="54833" y="110569"/>
                  <a:pt x="75991" y="81744"/>
                  <a:pt x="107013" y="75357"/>
                </a:cubicBezTo>
                <a:cubicBezTo>
                  <a:pt x="138035" y="68970"/>
                  <a:pt x="168858" y="87094"/>
                  <a:pt x="178360" y="117307"/>
                </a:cubicBezTo>
                <a:moveTo>
                  <a:pt x="119446" y="246963"/>
                </a:moveTo>
                <a:cubicBezTo>
                  <a:pt x="75284" y="246934"/>
                  <a:pt x="35330" y="220759"/>
                  <a:pt x="17665" y="180284"/>
                </a:cubicBezTo>
                <a:cubicBezTo>
                  <a:pt x="0" y="139809"/>
                  <a:pt x="7976" y="92715"/>
                  <a:pt x="37984" y="60314"/>
                </a:cubicBezTo>
                <a:cubicBezTo>
                  <a:pt x="67992" y="27913"/>
                  <a:pt x="114338" y="16355"/>
                  <a:pt x="156047" y="30870"/>
                </a:cubicBezTo>
                <a:moveTo>
                  <a:pt x="144143" y="209919"/>
                </a:moveTo>
                <a:cubicBezTo>
                  <a:pt x="144143" y="250837"/>
                  <a:pt x="177314" y="284008"/>
                  <a:pt x="218232" y="284008"/>
                </a:cubicBezTo>
                <a:cubicBezTo>
                  <a:pt x="259150" y="284008"/>
                  <a:pt x="292321" y="250837"/>
                  <a:pt x="292321" y="209919"/>
                </a:cubicBezTo>
                <a:cubicBezTo>
                  <a:pt x="292321" y="169001"/>
                  <a:pt x="259150" y="135830"/>
                  <a:pt x="218232" y="135830"/>
                </a:cubicBezTo>
                <a:cubicBezTo>
                  <a:pt x="177314" y="135830"/>
                  <a:pt x="144143" y="169001"/>
                  <a:pt x="144143" y="209919"/>
                </a:cubicBezTo>
                <a:close/>
                <a:moveTo>
                  <a:pt x="251251" y="188384"/>
                </a:moveTo>
                <a:lnTo>
                  <a:pt x="215380" y="236208"/>
                </a:lnTo>
                <a:cubicBezTo>
                  <a:pt x="213765" y="238353"/>
                  <a:pt x="211302" y="239694"/>
                  <a:pt x="208624" y="239886"/>
                </a:cubicBezTo>
                <a:cubicBezTo>
                  <a:pt x="205947" y="240077"/>
                  <a:pt x="203317" y="239101"/>
                  <a:pt x="201414" y="237208"/>
                </a:cubicBezTo>
                <a:lnTo>
                  <a:pt x="182892" y="218686"/>
                </a:lnTo>
              </a:path>
            </a:pathLst>
          </a:custGeom>
          <a:solidFill>
            <a:schemeClr val="bg1"/>
          </a:solidFill>
          <a:ln w="12348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25" name="TextBox 24"/>
          <p:cNvSpPr txBox="1"/>
          <p:nvPr/>
        </p:nvSpPr>
        <p:spPr>
          <a:xfrm>
            <a:off x="1282406" y="3392573"/>
            <a:ext cx="1384995" cy="2154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400" b="1" dirty="0">
                <a:latin typeface="Roboto"/>
              </a:rPr>
              <a:t>Policy Evaluation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350033" y="3449753"/>
            <a:ext cx="285827" cy="284008"/>
          </a:xfrm>
          <a:custGeom>
            <a:avLst/>
            <a:gdLst/>
            <a:ahLst/>
            <a:cxnLst/>
            <a:rect l="0" t="0" r="0" b="0"/>
            <a:pathLst>
              <a:path w="285827" h="284008">
                <a:moveTo>
                  <a:pt x="222267" y="160526"/>
                </a:moveTo>
                <a:lnTo>
                  <a:pt x="222267" y="259312"/>
                </a:lnTo>
                <a:cubicBezTo>
                  <a:pt x="222267" y="272951"/>
                  <a:pt x="211210" y="284008"/>
                  <a:pt x="197571" y="284008"/>
                </a:cubicBezTo>
                <a:lnTo>
                  <a:pt x="24696" y="284008"/>
                </a:lnTo>
                <a:cubicBezTo>
                  <a:pt x="11056" y="284008"/>
                  <a:pt x="0" y="272951"/>
                  <a:pt x="0" y="259312"/>
                </a:cubicBezTo>
                <a:lnTo>
                  <a:pt x="0" y="24696"/>
                </a:lnTo>
                <a:cubicBezTo>
                  <a:pt x="0" y="11056"/>
                  <a:pt x="11056" y="0"/>
                  <a:pt x="24696" y="0"/>
                </a:cubicBezTo>
                <a:lnTo>
                  <a:pt x="197571" y="0"/>
                </a:lnTo>
                <a:cubicBezTo>
                  <a:pt x="211210" y="0"/>
                  <a:pt x="222267" y="11056"/>
                  <a:pt x="222267" y="24696"/>
                </a:cubicBezTo>
                <a:lnTo>
                  <a:pt x="222267" y="37044"/>
                </a:lnTo>
                <a:moveTo>
                  <a:pt x="61740" y="24696"/>
                </a:moveTo>
                <a:lnTo>
                  <a:pt x="37044" y="24696"/>
                </a:lnTo>
                <a:cubicBezTo>
                  <a:pt x="30224" y="24696"/>
                  <a:pt x="24696" y="30224"/>
                  <a:pt x="24696" y="37044"/>
                </a:cubicBezTo>
                <a:lnTo>
                  <a:pt x="24696" y="246963"/>
                </a:lnTo>
                <a:cubicBezTo>
                  <a:pt x="24696" y="253783"/>
                  <a:pt x="30224" y="259312"/>
                  <a:pt x="37044" y="259312"/>
                </a:cubicBezTo>
                <a:lnTo>
                  <a:pt x="185222" y="259312"/>
                </a:lnTo>
                <a:cubicBezTo>
                  <a:pt x="192042" y="259312"/>
                  <a:pt x="197571" y="253783"/>
                  <a:pt x="197571" y="246963"/>
                </a:cubicBezTo>
                <a:lnTo>
                  <a:pt x="197571" y="185222"/>
                </a:lnTo>
                <a:moveTo>
                  <a:pt x="160526" y="24696"/>
                </a:moveTo>
                <a:lnTo>
                  <a:pt x="185222" y="24696"/>
                </a:lnTo>
                <a:cubicBezTo>
                  <a:pt x="192042" y="24696"/>
                  <a:pt x="197571" y="30224"/>
                  <a:pt x="197571" y="37044"/>
                </a:cubicBezTo>
                <a:lnTo>
                  <a:pt x="197571" y="61740"/>
                </a:lnTo>
                <a:moveTo>
                  <a:pt x="125778" y="218958"/>
                </a:moveTo>
                <a:lnTo>
                  <a:pt x="99588" y="192767"/>
                </a:lnTo>
                <a:lnTo>
                  <a:pt x="252384" y="39958"/>
                </a:lnTo>
                <a:cubicBezTo>
                  <a:pt x="259620" y="32720"/>
                  <a:pt x="271353" y="32718"/>
                  <a:pt x="278590" y="39955"/>
                </a:cubicBezTo>
                <a:cubicBezTo>
                  <a:pt x="285827" y="47192"/>
                  <a:pt x="285826" y="58926"/>
                  <a:pt x="278587" y="66161"/>
                </a:cubicBezTo>
                <a:close/>
                <a:moveTo>
                  <a:pt x="239295" y="53060"/>
                </a:moveTo>
                <a:lnTo>
                  <a:pt x="265486" y="79250"/>
                </a:lnTo>
                <a:moveTo>
                  <a:pt x="99588" y="192767"/>
                </a:moveTo>
                <a:lnTo>
                  <a:pt x="83930" y="234615"/>
                </a:lnTo>
                <a:lnTo>
                  <a:pt x="125778" y="218958"/>
                </a:lnTo>
                <a:close/>
                <a:moveTo>
                  <a:pt x="49392" y="135830"/>
                </a:moveTo>
                <a:lnTo>
                  <a:pt x="53912" y="144869"/>
                </a:lnTo>
                <a:cubicBezTo>
                  <a:pt x="54770" y="146591"/>
                  <a:pt x="56404" y="147795"/>
                  <a:pt x="58304" y="148104"/>
                </a:cubicBezTo>
                <a:cubicBezTo>
                  <a:pt x="60203" y="148412"/>
                  <a:pt x="62135" y="147787"/>
                  <a:pt x="63494" y="146424"/>
                </a:cubicBezTo>
                <a:lnTo>
                  <a:pt x="86437" y="123481"/>
                </a:lnTo>
                <a:moveTo>
                  <a:pt x="111133" y="135830"/>
                </a:moveTo>
                <a:lnTo>
                  <a:pt x="123481" y="135830"/>
                </a:lnTo>
                <a:moveTo>
                  <a:pt x="61740" y="0"/>
                </a:moveTo>
                <a:lnTo>
                  <a:pt x="61740" y="24696"/>
                </a:lnTo>
                <a:cubicBezTo>
                  <a:pt x="61740" y="31516"/>
                  <a:pt x="67269" y="37044"/>
                  <a:pt x="74089" y="37044"/>
                </a:cubicBezTo>
                <a:lnTo>
                  <a:pt x="148178" y="37044"/>
                </a:lnTo>
                <a:cubicBezTo>
                  <a:pt x="154998" y="37044"/>
                  <a:pt x="160526" y="31516"/>
                  <a:pt x="160526" y="24696"/>
                </a:cubicBezTo>
                <a:lnTo>
                  <a:pt x="160526" y="0"/>
                </a:lnTo>
                <a:lnTo>
                  <a:pt x="160526" y="0"/>
                </a:lnTo>
                <a:close/>
                <a:moveTo>
                  <a:pt x="49392" y="86437"/>
                </a:moveTo>
                <a:lnTo>
                  <a:pt x="53912" y="95476"/>
                </a:lnTo>
                <a:cubicBezTo>
                  <a:pt x="54770" y="97198"/>
                  <a:pt x="56404" y="98403"/>
                  <a:pt x="58304" y="98711"/>
                </a:cubicBezTo>
                <a:cubicBezTo>
                  <a:pt x="60203" y="99020"/>
                  <a:pt x="62135" y="98394"/>
                  <a:pt x="63494" y="97032"/>
                </a:cubicBezTo>
                <a:lnTo>
                  <a:pt x="86437" y="74089"/>
                </a:lnTo>
                <a:moveTo>
                  <a:pt x="111133" y="86437"/>
                </a:moveTo>
                <a:lnTo>
                  <a:pt x="160526" y="86437"/>
                </a:lnTo>
              </a:path>
            </a:pathLst>
          </a:custGeom>
          <a:solidFill>
            <a:schemeClr val="bg1"/>
          </a:solidFill>
          <a:ln w="12348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28" name="TextBox 27"/>
          <p:cNvSpPr txBox="1"/>
          <p:nvPr/>
        </p:nvSpPr>
        <p:spPr>
          <a:xfrm>
            <a:off x="1895703" y="1841785"/>
            <a:ext cx="1654538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Open access to aquaculture information</a:t>
            </a:r>
            <a:endParaRPr sz="1400" b="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5494760" y="3460646"/>
            <a:ext cx="265510" cy="284008"/>
          </a:xfrm>
          <a:custGeom>
            <a:avLst/>
            <a:gdLst/>
            <a:ahLst/>
            <a:cxnLst/>
            <a:rect l="0" t="0" r="0" b="0"/>
            <a:pathLst>
              <a:path w="265510" h="284008">
                <a:moveTo>
                  <a:pt x="91216" y="188803"/>
                </a:moveTo>
                <a:cubicBezTo>
                  <a:pt x="91212" y="211959"/>
                  <a:pt x="109982" y="230732"/>
                  <a:pt x="133138" y="230732"/>
                </a:cubicBezTo>
                <a:cubicBezTo>
                  <a:pt x="156293" y="230732"/>
                  <a:pt x="175064" y="211959"/>
                  <a:pt x="175060" y="188803"/>
                </a:cubicBezTo>
                <a:cubicBezTo>
                  <a:pt x="175064" y="165648"/>
                  <a:pt x="156293" y="146875"/>
                  <a:pt x="133138" y="146875"/>
                </a:cubicBezTo>
                <a:cubicBezTo>
                  <a:pt x="109982" y="146875"/>
                  <a:pt x="91212" y="165648"/>
                  <a:pt x="91216" y="188803"/>
                </a:cubicBezTo>
                <a:moveTo>
                  <a:pt x="68865" y="284008"/>
                </a:moveTo>
                <a:cubicBezTo>
                  <a:pt x="78561" y="257355"/>
                  <a:pt x="103700" y="239451"/>
                  <a:pt x="132058" y="239001"/>
                </a:cubicBezTo>
                <a:cubicBezTo>
                  <a:pt x="160416" y="238552"/>
                  <a:pt x="186109" y="255650"/>
                  <a:pt x="196645" y="281983"/>
                </a:cubicBezTo>
                <a:moveTo>
                  <a:pt x="20362" y="203708"/>
                </a:moveTo>
                <a:cubicBezTo>
                  <a:pt x="20362" y="218629"/>
                  <a:pt x="32458" y="230726"/>
                  <a:pt x="47380" y="230726"/>
                </a:cubicBezTo>
                <a:cubicBezTo>
                  <a:pt x="62301" y="230726"/>
                  <a:pt x="74397" y="218629"/>
                  <a:pt x="74397" y="203708"/>
                </a:cubicBezTo>
                <a:cubicBezTo>
                  <a:pt x="74397" y="188786"/>
                  <a:pt x="62301" y="176690"/>
                  <a:pt x="47380" y="176690"/>
                </a:cubicBezTo>
                <a:cubicBezTo>
                  <a:pt x="32458" y="176690"/>
                  <a:pt x="20362" y="188786"/>
                  <a:pt x="20362" y="203708"/>
                </a:cubicBezTo>
                <a:moveTo>
                  <a:pt x="79942" y="264486"/>
                </a:moveTo>
                <a:cubicBezTo>
                  <a:pt x="70652" y="257202"/>
                  <a:pt x="59185" y="253249"/>
                  <a:pt x="47380" y="253261"/>
                </a:cubicBezTo>
                <a:cubicBezTo>
                  <a:pt x="27369" y="253315"/>
                  <a:pt x="9073" y="264568"/>
                  <a:pt x="0" y="282403"/>
                </a:cubicBezTo>
                <a:moveTo>
                  <a:pt x="191113" y="203708"/>
                </a:moveTo>
                <a:cubicBezTo>
                  <a:pt x="191113" y="218629"/>
                  <a:pt x="203209" y="230726"/>
                  <a:pt x="218130" y="230726"/>
                </a:cubicBezTo>
                <a:cubicBezTo>
                  <a:pt x="233052" y="230726"/>
                  <a:pt x="245148" y="218629"/>
                  <a:pt x="245148" y="203708"/>
                </a:cubicBezTo>
                <a:cubicBezTo>
                  <a:pt x="245148" y="188786"/>
                  <a:pt x="233052" y="176690"/>
                  <a:pt x="218130" y="176690"/>
                </a:cubicBezTo>
                <a:cubicBezTo>
                  <a:pt x="203209" y="176690"/>
                  <a:pt x="191113" y="188786"/>
                  <a:pt x="191113" y="203708"/>
                </a:cubicBezTo>
                <a:moveTo>
                  <a:pt x="265510" y="282403"/>
                </a:moveTo>
                <a:cubicBezTo>
                  <a:pt x="256437" y="264568"/>
                  <a:pt x="238141" y="253315"/>
                  <a:pt x="218130" y="253261"/>
                </a:cubicBezTo>
                <a:cubicBezTo>
                  <a:pt x="206526" y="253236"/>
                  <a:pt x="195238" y="257047"/>
                  <a:pt x="186025" y="264103"/>
                </a:cubicBezTo>
                <a:moveTo>
                  <a:pt x="213018" y="0"/>
                </a:moveTo>
                <a:lnTo>
                  <a:pt x="168021" y="1234"/>
                </a:lnTo>
                <a:cubicBezTo>
                  <a:pt x="159781" y="1467"/>
                  <a:pt x="151811" y="4226"/>
                  <a:pt x="145190" y="9137"/>
                </a:cubicBezTo>
                <a:lnTo>
                  <a:pt x="102131" y="41082"/>
                </a:lnTo>
                <a:cubicBezTo>
                  <a:pt x="93088" y="47806"/>
                  <a:pt x="86565" y="57373"/>
                  <a:pt x="83609" y="68248"/>
                </a:cubicBezTo>
                <a:lnTo>
                  <a:pt x="76200" y="95599"/>
                </a:lnTo>
                <a:cubicBezTo>
                  <a:pt x="73257" y="103987"/>
                  <a:pt x="73222" y="113121"/>
                  <a:pt x="76101" y="121530"/>
                </a:cubicBezTo>
                <a:cubicBezTo>
                  <a:pt x="80602" y="130326"/>
                  <a:pt x="90907" y="134445"/>
                  <a:pt x="100230" y="131174"/>
                </a:cubicBezTo>
                <a:cubicBezTo>
                  <a:pt x="105714" y="129428"/>
                  <a:pt x="109913" y="124982"/>
                  <a:pt x="111343" y="119407"/>
                </a:cubicBezTo>
                <a:lnTo>
                  <a:pt x="120580" y="80781"/>
                </a:lnTo>
                <a:cubicBezTo>
                  <a:pt x="122095" y="77200"/>
                  <a:pt x="124645" y="74151"/>
                  <a:pt x="127902" y="72027"/>
                </a:cubicBezTo>
                <a:lnTo>
                  <a:pt x="158834" y="51862"/>
                </a:lnTo>
                <a:cubicBezTo>
                  <a:pt x="164600" y="48090"/>
                  <a:pt x="171923" y="47622"/>
                  <a:pt x="178122" y="50627"/>
                </a:cubicBezTo>
                <a:cubicBezTo>
                  <a:pt x="183062" y="53097"/>
                  <a:pt x="191779" y="57863"/>
                  <a:pt x="193706" y="62802"/>
                </a:cubicBezTo>
                <a:cubicBezTo>
                  <a:pt x="197512" y="70632"/>
                  <a:pt x="196162" y="79991"/>
                  <a:pt x="190298" y="86425"/>
                </a:cubicBezTo>
                <a:lnTo>
                  <a:pt x="167145" y="109009"/>
                </a:lnTo>
                <a:cubicBezTo>
                  <a:pt x="160046" y="115488"/>
                  <a:pt x="158862" y="126231"/>
                  <a:pt x="164379" y="134101"/>
                </a:cubicBezTo>
                <a:cubicBezTo>
                  <a:pt x="171479" y="142559"/>
                  <a:pt x="181456" y="137583"/>
                  <a:pt x="190668" y="131211"/>
                </a:cubicBezTo>
                <a:lnTo>
                  <a:pt x="232281" y="102415"/>
                </a:lnTo>
                <a:cubicBezTo>
                  <a:pt x="235921" y="99886"/>
                  <a:pt x="238604" y="96207"/>
                  <a:pt x="239900" y="91969"/>
                </a:cubicBezTo>
                <a:lnTo>
                  <a:pt x="248544" y="63704"/>
                </a:lnTo>
              </a:path>
            </a:pathLst>
          </a:custGeom>
          <a:solidFill>
            <a:schemeClr val="bg1"/>
          </a:solidFill>
          <a:ln w="12348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30" name="TextBox 29"/>
          <p:cNvSpPr txBox="1"/>
          <p:nvPr/>
        </p:nvSpPr>
        <p:spPr>
          <a:xfrm>
            <a:off x="6454216" y="3392573"/>
            <a:ext cx="1166986" cy="2154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 dirty="0">
                <a:latin typeface="Roboto"/>
              </a:rPr>
              <a:t>Social </a:t>
            </a:r>
            <a:r>
              <a:rPr sz="1400" b="1" dirty="0" err="1">
                <a:latin typeface="Roboto"/>
              </a:rPr>
              <a:t>Licence</a:t>
            </a:r>
            <a:endParaRPr sz="1400" b="1" dirty="0">
              <a:latin typeface="Roboto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455502" y="3608275"/>
            <a:ext cx="1282402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00" b="0" dirty="0">
                <a:latin typeface="Roboto"/>
              </a:rPr>
              <a:t>Assessing the
effectiveness of
regulations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80088" y="3625072"/>
            <a:ext cx="1548501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00" b="0" dirty="0">
                <a:latin typeface="Roboto"/>
              </a:rPr>
              <a:t>Gaining community
acceptance and
support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90026" y="5964840"/>
            <a:ext cx="1879077" cy="4308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Verification and replication of studies</a:t>
            </a:r>
            <a:endParaRPr sz="1400" b="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197298" y="1423025"/>
            <a:ext cx="1109279" cy="4308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00" b="1" dirty="0">
                <a:latin typeface="Roboto"/>
              </a:rPr>
              <a:t>Governance
Transparency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563379" y="4327560"/>
            <a:ext cx="277834" cy="281785"/>
          </a:xfrm>
          <a:custGeom>
            <a:avLst/>
            <a:gdLst/>
            <a:ahLst/>
            <a:cxnLst/>
            <a:rect l="0" t="0" r="0" b="0"/>
            <a:pathLst>
              <a:path w="277834" h="281785">
                <a:moveTo>
                  <a:pt x="124716" y="202756"/>
                </a:moveTo>
                <a:cubicBezTo>
                  <a:pt x="111133" y="210165"/>
                  <a:pt x="106194" y="226218"/>
                  <a:pt x="113603" y="238566"/>
                </a:cubicBezTo>
                <a:cubicBezTo>
                  <a:pt x="121012" y="252149"/>
                  <a:pt x="137065" y="257088"/>
                  <a:pt x="149413" y="249679"/>
                </a:cubicBezTo>
                <a:lnTo>
                  <a:pt x="153117" y="247210"/>
                </a:lnTo>
                <a:cubicBezTo>
                  <a:pt x="223502" y="208930"/>
                  <a:pt x="234615" y="213870"/>
                  <a:pt x="277834" y="211400"/>
                </a:cubicBezTo>
                <a:lnTo>
                  <a:pt x="227206" y="116319"/>
                </a:lnTo>
                <a:cubicBezTo>
                  <a:pt x="200040" y="154598"/>
                  <a:pt x="198806" y="162007"/>
                  <a:pt x="124716" y="202756"/>
                </a:cubicBezTo>
                <a:close/>
                <a:moveTo>
                  <a:pt x="146113" y="190760"/>
                </a:moveTo>
                <a:lnTo>
                  <a:pt x="180283" y="263262"/>
                </a:lnTo>
                <a:cubicBezTo>
                  <a:pt x="187692" y="276845"/>
                  <a:pt x="203745" y="281785"/>
                  <a:pt x="216093" y="274376"/>
                </a:cubicBezTo>
                <a:moveTo>
                  <a:pt x="107429" y="46923"/>
                </a:moveTo>
                <a:cubicBezTo>
                  <a:pt x="120387" y="46923"/>
                  <a:pt x="130890" y="36418"/>
                  <a:pt x="130890" y="23461"/>
                </a:cubicBezTo>
                <a:cubicBezTo>
                  <a:pt x="130890" y="10503"/>
                  <a:pt x="120387" y="0"/>
                  <a:pt x="107429" y="0"/>
                </a:cubicBezTo>
                <a:cubicBezTo>
                  <a:pt x="94472" y="0"/>
                  <a:pt x="83968" y="10503"/>
                  <a:pt x="83968" y="23461"/>
                </a:cubicBezTo>
                <a:cubicBezTo>
                  <a:pt x="83968" y="36418"/>
                  <a:pt x="94472" y="46923"/>
                  <a:pt x="107429" y="46923"/>
                </a:cubicBezTo>
                <a:close/>
                <a:moveTo>
                  <a:pt x="23461" y="95081"/>
                </a:moveTo>
                <a:cubicBezTo>
                  <a:pt x="36419" y="95081"/>
                  <a:pt x="46923" y="84576"/>
                  <a:pt x="46923" y="71619"/>
                </a:cubicBezTo>
                <a:cubicBezTo>
                  <a:pt x="46923" y="58661"/>
                  <a:pt x="36419" y="48157"/>
                  <a:pt x="23461" y="48157"/>
                </a:cubicBezTo>
                <a:cubicBezTo>
                  <a:pt x="10504" y="48157"/>
                  <a:pt x="0" y="58661"/>
                  <a:pt x="0" y="71619"/>
                </a:cubicBezTo>
                <a:cubicBezTo>
                  <a:pt x="0" y="84576"/>
                  <a:pt x="10504" y="95081"/>
                  <a:pt x="23461" y="95081"/>
                </a:cubicBezTo>
                <a:close/>
                <a:moveTo>
                  <a:pt x="191397" y="95081"/>
                </a:moveTo>
                <a:cubicBezTo>
                  <a:pt x="204354" y="95081"/>
                  <a:pt x="214858" y="84576"/>
                  <a:pt x="214858" y="71619"/>
                </a:cubicBezTo>
                <a:cubicBezTo>
                  <a:pt x="214858" y="58661"/>
                  <a:pt x="204354" y="48157"/>
                  <a:pt x="191397" y="48157"/>
                </a:cubicBezTo>
                <a:cubicBezTo>
                  <a:pt x="178438" y="48157"/>
                  <a:pt x="167935" y="58661"/>
                  <a:pt x="167935" y="71619"/>
                </a:cubicBezTo>
                <a:cubicBezTo>
                  <a:pt x="167935" y="84576"/>
                  <a:pt x="178438" y="95081"/>
                  <a:pt x="191397" y="95081"/>
                </a:cubicBezTo>
                <a:close/>
                <a:moveTo>
                  <a:pt x="86436" y="179049"/>
                </a:moveTo>
                <a:lnTo>
                  <a:pt x="60506" y="179049"/>
                </a:lnTo>
                <a:cubicBezTo>
                  <a:pt x="50627" y="179049"/>
                  <a:pt x="44453" y="167934"/>
                  <a:pt x="50627" y="159290"/>
                </a:cubicBezTo>
                <a:lnTo>
                  <a:pt x="98785" y="95081"/>
                </a:lnTo>
                <a:cubicBezTo>
                  <a:pt x="103724" y="88907"/>
                  <a:pt x="113603" y="88907"/>
                  <a:pt x="118542" y="95081"/>
                </a:cubicBezTo>
                <a:lnTo>
                  <a:pt x="142004" y="125952"/>
                </a:lnTo>
              </a:path>
            </a:pathLst>
          </a:custGeom>
          <a:solidFill>
            <a:schemeClr val="bg1"/>
          </a:solidFill>
          <a:ln w="12348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36" name="TextBox 35"/>
          <p:cNvSpPr txBox="1"/>
          <p:nvPr/>
        </p:nvSpPr>
        <p:spPr>
          <a:xfrm>
            <a:off x="2058795" y="569571"/>
            <a:ext cx="4966104" cy="2462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en-US" sz="1600" b="1" dirty="0">
                <a:latin typeface="Roboto"/>
              </a:rPr>
              <a:t>Roles of publicly available data in salmon aquaculture</a:t>
            </a:r>
            <a:endParaRPr sz="1600" b="1" dirty="0">
              <a:latin typeface="Roboto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5268210" y="4332492"/>
            <a:ext cx="283514" cy="282331"/>
          </a:xfrm>
          <a:custGeom>
            <a:avLst/>
            <a:gdLst/>
            <a:ahLst/>
            <a:cxnLst/>
            <a:rect l="0" t="0" r="0" b="0"/>
            <a:pathLst>
              <a:path w="283514" h="282331">
                <a:moveTo>
                  <a:pt x="135830" y="0"/>
                </a:moveTo>
                <a:lnTo>
                  <a:pt x="172874" y="0"/>
                </a:lnTo>
                <a:lnTo>
                  <a:pt x="172874" y="37044"/>
                </a:lnTo>
                <a:moveTo>
                  <a:pt x="172874" y="0"/>
                </a:moveTo>
                <a:lnTo>
                  <a:pt x="108787" y="64828"/>
                </a:lnTo>
                <a:cubicBezTo>
                  <a:pt x="103971" y="69615"/>
                  <a:pt x="96192" y="69615"/>
                  <a:pt x="91376" y="64828"/>
                </a:cubicBezTo>
                <a:lnTo>
                  <a:pt x="68655" y="41489"/>
                </a:lnTo>
                <a:cubicBezTo>
                  <a:pt x="63839" y="36702"/>
                  <a:pt x="56061" y="36702"/>
                  <a:pt x="51245" y="41489"/>
                </a:cubicBezTo>
                <a:lnTo>
                  <a:pt x="0" y="92611"/>
                </a:lnTo>
                <a:moveTo>
                  <a:pt x="211369" y="62186"/>
                </a:moveTo>
                <a:lnTo>
                  <a:pt x="233060" y="89426"/>
                </a:lnTo>
                <a:cubicBezTo>
                  <a:pt x="233060" y="89426"/>
                  <a:pt x="240752" y="99086"/>
                  <a:pt x="231092" y="106778"/>
                </a:cubicBezTo>
                <a:lnTo>
                  <a:pt x="157388" y="165468"/>
                </a:lnTo>
                <a:cubicBezTo>
                  <a:pt x="157388" y="165468"/>
                  <a:pt x="147728" y="173160"/>
                  <a:pt x="140036" y="163500"/>
                </a:cubicBezTo>
                <a:lnTo>
                  <a:pt x="118345" y="136260"/>
                </a:lnTo>
                <a:cubicBezTo>
                  <a:pt x="118345" y="136260"/>
                  <a:pt x="110653" y="126600"/>
                  <a:pt x="120313" y="118908"/>
                </a:cubicBezTo>
                <a:lnTo>
                  <a:pt x="194017" y="60218"/>
                </a:lnTo>
                <a:cubicBezTo>
                  <a:pt x="194017" y="60218"/>
                  <a:pt x="203677" y="52526"/>
                  <a:pt x="211369" y="62186"/>
                </a:cubicBezTo>
                <a:moveTo>
                  <a:pt x="231405" y="87425"/>
                </a:moveTo>
                <a:lnTo>
                  <a:pt x="212882" y="64828"/>
                </a:lnTo>
                <a:lnTo>
                  <a:pt x="233627" y="47911"/>
                </a:lnTo>
                <a:cubicBezTo>
                  <a:pt x="237550" y="43719"/>
                  <a:pt x="243527" y="42146"/>
                  <a:pt x="249005" y="43863"/>
                </a:cubicBezTo>
                <a:cubicBezTo>
                  <a:pt x="254483" y="45580"/>
                  <a:pt x="258493" y="50284"/>
                  <a:pt x="259321" y="55964"/>
                </a:cubicBezTo>
                <a:cubicBezTo>
                  <a:pt x="260150" y="61645"/>
                  <a:pt x="257650" y="67298"/>
                  <a:pt x="252891" y="70508"/>
                </a:cubicBezTo>
                <a:close/>
                <a:moveTo>
                  <a:pt x="254619" y="49639"/>
                </a:moveTo>
                <a:lnTo>
                  <a:pt x="275858" y="33093"/>
                </a:lnTo>
                <a:lnTo>
                  <a:pt x="268079" y="23461"/>
                </a:lnTo>
                <a:moveTo>
                  <a:pt x="283514" y="42724"/>
                </a:moveTo>
                <a:lnTo>
                  <a:pt x="275858" y="33093"/>
                </a:lnTo>
                <a:moveTo>
                  <a:pt x="30870" y="203745"/>
                </a:moveTo>
                <a:lnTo>
                  <a:pt x="111133" y="203745"/>
                </a:lnTo>
                <a:moveTo>
                  <a:pt x="55566" y="277834"/>
                </a:moveTo>
                <a:lnTo>
                  <a:pt x="240789" y="277834"/>
                </a:lnTo>
                <a:moveTo>
                  <a:pt x="210660" y="122988"/>
                </a:moveTo>
                <a:cubicBezTo>
                  <a:pt x="236834" y="151942"/>
                  <a:pt x="242045" y="194198"/>
                  <a:pt x="223690" y="228644"/>
                </a:cubicBezTo>
                <a:cubicBezTo>
                  <a:pt x="205335" y="263090"/>
                  <a:pt x="167354" y="282331"/>
                  <a:pt x="128723" y="276753"/>
                </a:cubicBezTo>
                <a:cubicBezTo>
                  <a:pt x="90093" y="271175"/>
                  <a:pt x="59106" y="241976"/>
                  <a:pt x="51245" y="203745"/>
                </a:cubicBezTo>
                <a:moveTo>
                  <a:pt x="89647" y="203745"/>
                </a:moveTo>
                <a:cubicBezTo>
                  <a:pt x="97204" y="225280"/>
                  <a:pt x="117159" y="240005"/>
                  <a:pt x="139965" y="240874"/>
                </a:cubicBezTo>
                <a:cubicBezTo>
                  <a:pt x="162771" y="241743"/>
                  <a:pt x="183790" y="228578"/>
                  <a:pt x="192962" y="207680"/>
                </a:cubicBezTo>
                <a:cubicBezTo>
                  <a:pt x="202135" y="186782"/>
                  <a:pt x="197596" y="162400"/>
                  <a:pt x="181518" y="146202"/>
                </a:cubicBezTo>
              </a:path>
            </a:pathLst>
          </a:custGeom>
          <a:solidFill>
            <a:schemeClr val="bg1"/>
          </a:solidFill>
          <a:ln w="12348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38" name="TextBox 37"/>
          <p:cNvSpPr txBox="1"/>
          <p:nvPr/>
        </p:nvSpPr>
        <p:spPr>
          <a:xfrm>
            <a:off x="1882786" y="4548095"/>
            <a:ext cx="1279197" cy="4308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00" b="1" dirty="0">
                <a:latin typeface="Roboto"/>
              </a:rPr>
              <a:t>Stakeholder
Communication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17383" y="4539855"/>
            <a:ext cx="1008289" cy="4308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00" b="1" dirty="0">
                <a:latin typeface="Roboto"/>
              </a:rPr>
              <a:t>Independent
Research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445557" y="4554976"/>
            <a:ext cx="284008" cy="287184"/>
          </a:xfrm>
          <a:custGeom>
            <a:avLst/>
            <a:gdLst/>
            <a:ahLst/>
            <a:cxnLst/>
            <a:rect l="0" t="0" r="0" b="0"/>
            <a:pathLst>
              <a:path w="284008" h="287184">
                <a:moveTo>
                  <a:pt x="49392" y="98804"/>
                </a:moveTo>
                <a:lnTo>
                  <a:pt x="166700" y="98804"/>
                </a:lnTo>
                <a:moveTo>
                  <a:pt x="49392" y="135849"/>
                </a:moveTo>
                <a:lnTo>
                  <a:pt x="123481" y="135849"/>
                </a:lnTo>
                <a:moveTo>
                  <a:pt x="49392" y="61759"/>
                </a:moveTo>
                <a:lnTo>
                  <a:pt x="135830" y="61759"/>
                </a:lnTo>
                <a:moveTo>
                  <a:pt x="49392" y="172893"/>
                </a:moveTo>
                <a:lnTo>
                  <a:pt x="98785" y="172893"/>
                </a:lnTo>
                <a:moveTo>
                  <a:pt x="49392" y="209938"/>
                </a:moveTo>
                <a:lnTo>
                  <a:pt x="98785" y="209938"/>
                </a:lnTo>
                <a:moveTo>
                  <a:pt x="98785" y="284027"/>
                </a:moveTo>
                <a:lnTo>
                  <a:pt x="12348" y="284027"/>
                </a:lnTo>
                <a:cubicBezTo>
                  <a:pt x="5528" y="284027"/>
                  <a:pt x="0" y="278499"/>
                  <a:pt x="0" y="271679"/>
                </a:cubicBezTo>
                <a:lnTo>
                  <a:pt x="0" y="12367"/>
                </a:lnTo>
                <a:cubicBezTo>
                  <a:pt x="0" y="5547"/>
                  <a:pt x="5528" y="18"/>
                  <a:pt x="12348" y="18"/>
                </a:cubicBezTo>
                <a:lnTo>
                  <a:pt x="176455" y="18"/>
                </a:lnTo>
                <a:cubicBezTo>
                  <a:pt x="179737" y="0"/>
                  <a:pt x="182892" y="1288"/>
                  <a:pt x="185222" y="3599"/>
                </a:cubicBezTo>
                <a:lnTo>
                  <a:pt x="231034" y="49411"/>
                </a:lnTo>
                <a:cubicBezTo>
                  <a:pt x="233346" y="51742"/>
                  <a:pt x="234634" y="54896"/>
                  <a:pt x="234615" y="58179"/>
                </a:cubicBezTo>
                <a:lnTo>
                  <a:pt x="234615" y="98804"/>
                </a:lnTo>
                <a:moveTo>
                  <a:pt x="229553" y="180796"/>
                </a:moveTo>
                <a:lnTo>
                  <a:pt x="267091" y="197590"/>
                </a:lnTo>
                <a:lnTo>
                  <a:pt x="284008" y="159681"/>
                </a:lnTo>
                <a:moveTo>
                  <a:pt x="133607" y="182278"/>
                </a:moveTo>
                <a:cubicBezTo>
                  <a:pt x="144084" y="151721"/>
                  <a:pt x="174414" y="132573"/>
                  <a:pt x="206507" y="136254"/>
                </a:cubicBezTo>
                <a:cubicBezTo>
                  <a:pt x="238599" y="139936"/>
                  <a:pt x="263805" y="165454"/>
                  <a:pt x="267091" y="197590"/>
                </a:cubicBezTo>
                <a:moveTo>
                  <a:pt x="116937" y="260195"/>
                </a:moveTo>
                <a:lnTo>
                  <a:pt x="133854" y="222286"/>
                </a:lnTo>
                <a:lnTo>
                  <a:pt x="171393" y="239080"/>
                </a:lnTo>
                <a:moveTo>
                  <a:pt x="267338" y="237474"/>
                </a:moveTo>
                <a:cubicBezTo>
                  <a:pt x="256878" y="268024"/>
                  <a:pt x="226575" y="287184"/>
                  <a:pt x="194491" y="283534"/>
                </a:cubicBezTo>
                <a:cubicBezTo>
                  <a:pt x="162407" y="279883"/>
                  <a:pt x="137183" y="254405"/>
                  <a:pt x="133854" y="222286"/>
                </a:cubicBezTo>
              </a:path>
            </a:pathLst>
          </a:custGeom>
          <a:solidFill>
            <a:schemeClr val="bg1"/>
          </a:solidFill>
          <a:ln w="12348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41" name="TextBox 40"/>
          <p:cNvSpPr txBox="1"/>
          <p:nvPr/>
        </p:nvSpPr>
        <p:spPr>
          <a:xfrm>
            <a:off x="1740617" y="4995478"/>
            <a:ext cx="1609416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00" b="0" dirty="0">
                <a:latin typeface="Roboto"/>
              </a:rPr>
              <a:t>Facilitating dialogue
and information
exchange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84348" y="5019527"/>
            <a:ext cx="1691169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00" b="0" dirty="0">
                <a:latin typeface="Roboto"/>
              </a:rPr>
              <a:t>Conducting unbiased
studies to inform
decisions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066735" y="5530031"/>
            <a:ext cx="1218282" cy="4308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00" b="1" dirty="0">
                <a:latin typeface="Roboto"/>
              </a:rPr>
              <a:t>Research
Reproducibility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59349" y="1335880"/>
            <a:ext cx="1162178" cy="4308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00" b="1" dirty="0">
                <a:latin typeface="Roboto"/>
              </a:rPr>
              <a:t>Regulatory
Accountability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266982" y="3292413"/>
            <a:ext cx="577851" cy="583500"/>
          </a:xfrm>
          <a:custGeom>
            <a:avLst/>
            <a:gdLst/>
            <a:ahLst/>
            <a:cxnLst/>
            <a:rect l="0" t="0" r="0" b="0"/>
            <a:pathLst>
              <a:path w="577851" h="583500">
                <a:moveTo>
                  <a:pt x="294682" y="571004"/>
                </a:moveTo>
                <a:cubicBezTo>
                  <a:pt x="146159" y="574752"/>
                  <a:pt x="20961" y="461011"/>
                  <a:pt x="10480" y="312811"/>
                </a:cubicBezTo>
                <a:cubicBezTo>
                  <a:pt x="0" y="164611"/>
                  <a:pt x="107945" y="34383"/>
                  <a:pt x="255517" y="17191"/>
                </a:cubicBezTo>
                <a:cubicBezTo>
                  <a:pt x="403089" y="0"/>
                  <a:pt x="538079" y="101927"/>
                  <a:pt x="561946" y="248568"/>
                </a:cubicBezTo>
                <a:moveTo>
                  <a:pt x="220741" y="23361"/>
                </a:moveTo>
                <a:cubicBezTo>
                  <a:pt x="183178" y="78508"/>
                  <a:pt x="158012" y="178652"/>
                  <a:pt x="158012" y="293070"/>
                </a:cubicBezTo>
                <a:cubicBezTo>
                  <a:pt x="158012" y="407489"/>
                  <a:pt x="183178" y="507657"/>
                  <a:pt x="220741" y="562780"/>
                </a:cubicBezTo>
                <a:moveTo>
                  <a:pt x="10451" y="274647"/>
                </a:moveTo>
                <a:lnTo>
                  <a:pt x="317255" y="274647"/>
                </a:lnTo>
                <a:moveTo>
                  <a:pt x="65401" y="126469"/>
                </a:moveTo>
                <a:lnTo>
                  <a:pt x="509936" y="126469"/>
                </a:lnTo>
                <a:moveTo>
                  <a:pt x="41939" y="422825"/>
                </a:moveTo>
                <a:lnTo>
                  <a:pt x="294731" y="422825"/>
                </a:lnTo>
                <a:moveTo>
                  <a:pt x="354645" y="23361"/>
                </a:moveTo>
                <a:cubicBezTo>
                  <a:pt x="394889" y="91374"/>
                  <a:pt x="415173" y="169343"/>
                  <a:pt x="413175" y="248345"/>
                </a:cubicBezTo>
                <a:moveTo>
                  <a:pt x="466717" y="370123"/>
                </a:moveTo>
                <a:cubicBezTo>
                  <a:pt x="528088" y="370123"/>
                  <a:pt x="577851" y="354194"/>
                  <a:pt x="577851" y="334560"/>
                </a:cubicBezTo>
                <a:cubicBezTo>
                  <a:pt x="577851" y="314927"/>
                  <a:pt x="528088" y="298998"/>
                  <a:pt x="466717" y="298998"/>
                </a:cubicBezTo>
                <a:cubicBezTo>
                  <a:pt x="405347" y="298998"/>
                  <a:pt x="355583" y="314902"/>
                  <a:pt x="355583" y="334560"/>
                </a:cubicBezTo>
                <a:cubicBezTo>
                  <a:pt x="355583" y="354219"/>
                  <a:pt x="405347" y="370123"/>
                  <a:pt x="466717" y="370123"/>
                </a:cubicBezTo>
                <a:close/>
                <a:moveTo>
                  <a:pt x="355583" y="441249"/>
                </a:moveTo>
                <a:lnTo>
                  <a:pt x="355583" y="334560"/>
                </a:lnTo>
                <a:moveTo>
                  <a:pt x="577851" y="334560"/>
                </a:moveTo>
                <a:lnTo>
                  <a:pt x="577851" y="441249"/>
                </a:lnTo>
                <a:moveTo>
                  <a:pt x="577851" y="441249"/>
                </a:moveTo>
                <a:lnTo>
                  <a:pt x="577851" y="547937"/>
                </a:lnTo>
                <a:cubicBezTo>
                  <a:pt x="577851" y="567546"/>
                  <a:pt x="528088" y="583500"/>
                  <a:pt x="466717" y="583500"/>
                </a:cubicBezTo>
                <a:cubicBezTo>
                  <a:pt x="405347" y="583500"/>
                  <a:pt x="355583" y="567546"/>
                  <a:pt x="355583" y="547937"/>
                </a:cubicBezTo>
                <a:lnTo>
                  <a:pt x="355583" y="441249"/>
                </a:lnTo>
                <a:moveTo>
                  <a:pt x="577851" y="404204"/>
                </a:moveTo>
                <a:cubicBezTo>
                  <a:pt x="577851" y="423813"/>
                  <a:pt x="528088" y="439767"/>
                  <a:pt x="466717" y="439767"/>
                </a:cubicBezTo>
                <a:cubicBezTo>
                  <a:pt x="405347" y="439767"/>
                  <a:pt x="355583" y="423813"/>
                  <a:pt x="355583" y="404204"/>
                </a:cubicBezTo>
                <a:moveTo>
                  <a:pt x="355583" y="478293"/>
                </a:moveTo>
                <a:cubicBezTo>
                  <a:pt x="355583" y="497902"/>
                  <a:pt x="405347" y="513856"/>
                  <a:pt x="466717" y="513856"/>
                </a:cubicBezTo>
                <a:cubicBezTo>
                  <a:pt x="528088" y="513856"/>
                  <a:pt x="577851" y="497902"/>
                  <a:pt x="577851" y="478293"/>
                </a:cubicBezTo>
              </a:path>
            </a:pathLst>
          </a:custGeom>
          <a:solidFill>
            <a:schemeClr val="bg1"/>
          </a:solidFill>
          <a:ln w="12348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5" name="Rounded Rectangle 4"/>
          <p:cNvSpPr/>
          <p:nvPr/>
        </p:nvSpPr>
        <p:spPr>
          <a:xfrm rot="7999804">
            <a:off x="3479041" y="2079492"/>
            <a:ext cx="493927" cy="864373"/>
          </a:xfrm>
          <a:custGeom>
            <a:avLst/>
            <a:gdLst/>
            <a:ahLst/>
            <a:cxnLst/>
            <a:rect l="0" t="0" r="0" b="0"/>
            <a:pathLst>
              <a:path w="493927" h="864373">
                <a:moveTo>
                  <a:pt x="158550" y="768634"/>
                </a:moveTo>
                <a:lnTo>
                  <a:pt x="246963" y="864373"/>
                </a:lnTo>
                <a:lnTo>
                  <a:pt x="335377" y="768634"/>
                </a:lnTo>
                <a:lnTo>
                  <a:pt x="286148" y="768634"/>
                </a:lnTo>
                <a:lnTo>
                  <a:pt x="286148" y="490388"/>
                </a:lnTo>
                <a:cubicBezTo>
                  <a:pt x="403868" y="471618"/>
                  <a:pt x="493927" y="369705"/>
                  <a:pt x="493927" y="246717"/>
                </a:cubicBezTo>
                <a:cubicBezTo>
                  <a:pt x="493927" y="110475"/>
                  <a:pt x="383370" y="0"/>
                  <a:pt x="246963" y="0"/>
                </a:cubicBezTo>
                <a:cubicBezTo>
                  <a:pt x="110557" y="0"/>
                  <a:pt x="0" y="110475"/>
                  <a:pt x="0" y="246717"/>
                </a:cubicBezTo>
                <a:cubicBezTo>
                  <a:pt x="0" y="369458"/>
                  <a:pt x="89730" y="471289"/>
                  <a:pt x="207285" y="490305"/>
                </a:cubicBezTo>
                <a:lnTo>
                  <a:pt x="207285" y="768634"/>
                </a:lnTo>
                <a:lnTo>
                  <a:pt x="158550" y="768634"/>
                </a:lnTo>
                <a:close/>
              </a:path>
            </a:pathLst>
          </a:custGeom>
          <a:solidFill>
            <a:schemeClr val="bg1"/>
          </a:solidFill>
          <a:ln w="12348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21" name="Rounded Rectangle 20"/>
          <p:cNvSpPr/>
          <p:nvPr/>
        </p:nvSpPr>
        <p:spPr>
          <a:xfrm>
            <a:off x="3712218" y="2470573"/>
            <a:ext cx="259312" cy="284008"/>
          </a:xfrm>
          <a:custGeom>
            <a:avLst/>
            <a:gdLst/>
            <a:ahLst/>
            <a:cxnLst/>
            <a:rect l="0" t="0" r="0" b="0"/>
            <a:pathLst>
              <a:path w="259312" h="284008">
                <a:moveTo>
                  <a:pt x="130656" y="284008"/>
                </a:moveTo>
                <a:lnTo>
                  <a:pt x="24696" y="284008"/>
                </a:lnTo>
                <a:cubicBezTo>
                  <a:pt x="11056" y="284008"/>
                  <a:pt x="0" y="272951"/>
                  <a:pt x="0" y="259312"/>
                </a:cubicBezTo>
                <a:lnTo>
                  <a:pt x="0" y="24696"/>
                </a:lnTo>
                <a:moveTo>
                  <a:pt x="234615" y="0"/>
                </a:moveTo>
                <a:lnTo>
                  <a:pt x="24696" y="0"/>
                </a:lnTo>
                <a:cubicBezTo>
                  <a:pt x="11056" y="0"/>
                  <a:pt x="0" y="11056"/>
                  <a:pt x="0" y="24696"/>
                </a:cubicBezTo>
                <a:cubicBezTo>
                  <a:pt x="0" y="38335"/>
                  <a:pt x="11056" y="49392"/>
                  <a:pt x="24696" y="49392"/>
                </a:cubicBezTo>
                <a:lnTo>
                  <a:pt x="222267" y="49392"/>
                </a:lnTo>
                <a:cubicBezTo>
                  <a:pt x="229087" y="49392"/>
                  <a:pt x="234615" y="54921"/>
                  <a:pt x="234615" y="61740"/>
                </a:cubicBezTo>
                <a:lnTo>
                  <a:pt x="234615" y="142325"/>
                </a:lnTo>
                <a:moveTo>
                  <a:pt x="222267" y="24696"/>
                </a:moveTo>
                <a:lnTo>
                  <a:pt x="24696" y="24696"/>
                </a:lnTo>
                <a:moveTo>
                  <a:pt x="123481" y="204103"/>
                </a:moveTo>
                <a:cubicBezTo>
                  <a:pt x="123481" y="234989"/>
                  <a:pt x="148520" y="260028"/>
                  <a:pt x="179406" y="260028"/>
                </a:cubicBezTo>
                <a:cubicBezTo>
                  <a:pt x="210293" y="260028"/>
                  <a:pt x="235331" y="234989"/>
                  <a:pt x="235331" y="204103"/>
                </a:cubicBezTo>
                <a:cubicBezTo>
                  <a:pt x="235331" y="173216"/>
                  <a:pt x="210293" y="148178"/>
                  <a:pt x="179406" y="148178"/>
                </a:cubicBezTo>
                <a:cubicBezTo>
                  <a:pt x="148520" y="148178"/>
                  <a:pt x="123481" y="173216"/>
                  <a:pt x="123481" y="204103"/>
                </a:cubicBezTo>
                <a:close/>
                <a:moveTo>
                  <a:pt x="259312" y="284008"/>
                </a:moveTo>
                <a:lnTo>
                  <a:pt x="219205" y="243901"/>
                </a:lnTo>
              </a:path>
            </a:pathLst>
          </a:custGeom>
          <a:solidFill>
            <a:schemeClr val="bg1"/>
          </a:solidFill>
          <a:ln w="12348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 sz="1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73</Words>
  <Application>Microsoft Office PowerPoint</Application>
  <PresentationFormat>On-screen Show (4:3)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Roboto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Sumit Jyoti</dc:creator>
  <cp:keywords/>
  <dc:description>generated using python-pptx</dc:description>
  <cp:lastModifiedBy>Sumit Jyoti</cp:lastModifiedBy>
  <cp:revision>5</cp:revision>
  <dcterms:created xsi:type="dcterms:W3CDTF">2013-01-27T09:14:16Z</dcterms:created>
  <dcterms:modified xsi:type="dcterms:W3CDTF">2026-03-28T16:22:01Z</dcterms:modified>
  <cp:category/>
</cp:coreProperties>
</file>